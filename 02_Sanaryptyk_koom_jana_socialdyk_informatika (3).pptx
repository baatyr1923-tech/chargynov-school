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914400"/>
            <a:ext cx="128016" cy="5029200"/>
          </a:xfrm>
          <a:prstGeom prst="rect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60120"/>
            <a:ext cx="98755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E7B54B"/>
                </a:solidFill>
                <a:latin typeface="Aptos"/>
              </a:rPr>
              <a:t>2-САБАК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0"/>
            <a:ext cx="9966960" cy="2011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Санариптик коом жана социалдык информатика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60120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0">
                <a:solidFill>
                  <a:srgbClr val="DCE8E0"/>
                </a:solidFill>
                <a:latin typeface="Aptos"/>
              </a:rPr>
              <a:t>Санариптик кызматтар • маалымат алмашуу • жоопкерчиликтүү колдонуу</a:t>
            </a:r>
          </a:p>
        </p:txBody>
      </p:sp>
      <p:sp>
        <p:nvSpPr>
          <p:cNvPr id="6" name="Oval 5"/>
          <p:cNvSpPr/>
          <p:nvPr/>
        </p:nvSpPr>
        <p:spPr>
          <a:xfrm>
            <a:off x="9738360" y="4251960"/>
            <a:ext cx="1325880" cy="1325880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57232" y="4517136"/>
            <a:ext cx="1078992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3000" b="1">
                <a:solidFill>
                  <a:srgbClr val="185341"/>
                </a:solidFill>
                <a:latin typeface="Aptos"/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№35 Жумабек Чаргынов атындагы орто билим берүү мектеби • 8-класс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008"/>
            <a:ext cx="98755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2-сабак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008"/>
            <a:ext cx="5029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/>
            <a:r>
              <a:rPr sz="1000" b="1">
                <a:solidFill>
                  <a:srgbClr val="E7B54B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5341"/>
                </a:solidFill>
                <a:latin typeface="Aptos"/>
              </a:rPr>
              <a:t>Санариптик коом деген эмне?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09344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Маалымат түзүү, сактоо жана бөлүшүү үчүн санариптик технологиялар колдонулган коом.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5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Компьютер, смартфон, интернет жана электрондук кызматтар күнүмдүк жашоого жардам берет.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18687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3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Технологияны туура колдонуу убакытты үнөмдөйт жана байланыш түзөт.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623560"/>
            <a:ext cx="10972800" cy="640080"/>
          </a:xfrm>
          <a:prstGeom prst="roundRect">
            <a:avLst/>
          </a:prstGeom>
          <a:solidFill>
            <a:srgbClr val="E8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751576"/>
            <a:ext cx="105613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5341"/>
                </a:solidFill>
                <a:latin typeface="Aptos"/>
              </a:rPr>
              <a:t>Мисал келтир: күн сайын кайсы санариптик кызматты колдоносуң?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C6C63"/>
                </a:solidFill>
                <a:latin typeface="Aptos"/>
              </a:rPr>
              <a:t>Инженердик технологиялар • 8-класс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008"/>
            <a:ext cx="98755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2-сабак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008"/>
            <a:ext cx="5029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/>
            <a:r>
              <a:rPr sz="1000" b="1">
                <a:solidFill>
                  <a:srgbClr val="E7B54B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5341"/>
                </a:solidFill>
                <a:latin typeface="Aptos"/>
              </a:rPr>
              <a:t>Санариптик кызматтардын мисалдары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09344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Электрондук күндөлүк жана онлайн окуу материалдары.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5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Электрондук почта жана билдирүү жөнөтүү.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18687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3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Карта, онлайн төлөм жана мамлекеттик электрондук кызматтар.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023360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22776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Видеосабактар, санариптик китепкана жана издөө системалары.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874519"/>
            <a:ext cx="38862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8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057400"/>
            <a:ext cx="33375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185341"/>
                </a:solidFill>
                <a:latin typeface="Aptos"/>
              </a:rPr>
              <a:t>Кызматты колдонуу</a:t>
            </a:r>
          </a:p>
        </p:txBody>
      </p:sp>
      <p:sp>
        <p:nvSpPr>
          <p:cNvPr id="16" name="Oval 15"/>
          <p:cNvSpPr/>
          <p:nvPr/>
        </p:nvSpPr>
        <p:spPr>
          <a:xfrm>
            <a:off x="8001000" y="2743200"/>
            <a:ext cx="438912" cy="438912"/>
          </a:xfrm>
          <a:prstGeom prst="ellipse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788920"/>
            <a:ext cx="29260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779776"/>
            <a:ext cx="21945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23302B"/>
                </a:solidFill>
                <a:latin typeface="Aptos"/>
              </a:rPr>
              <a:t>Керекти аныктоо</a:t>
            </a:r>
          </a:p>
        </p:txBody>
      </p:sp>
      <p:sp>
        <p:nvSpPr>
          <p:cNvPr id="19" name="Oval 18"/>
          <p:cNvSpPr/>
          <p:nvPr/>
        </p:nvSpPr>
        <p:spPr>
          <a:xfrm>
            <a:off x="8001000" y="3456432"/>
            <a:ext cx="438912" cy="438912"/>
          </a:xfrm>
          <a:prstGeom prst="ellipse">
            <a:avLst/>
          </a:prstGeom>
          <a:solidFill>
            <a:srgbClr val="346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3502152"/>
            <a:ext cx="29260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493008"/>
            <a:ext cx="21945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23302B"/>
                </a:solidFill>
                <a:latin typeface="Aptos"/>
              </a:rPr>
              <a:t>Ишенимдүү кызматты тандоо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0" y="4169664"/>
            <a:ext cx="438912" cy="43891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4152" y="4215384"/>
            <a:ext cx="292608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23302B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206240"/>
            <a:ext cx="21945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23302B"/>
                </a:solidFill>
                <a:latin typeface="Aptos"/>
              </a:rPr>
              <a:t>Натыйжаны текшерүү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C6C63"/>
                </a:solidFill>
                <a:latin typeface="Aptos"/>
              </a:rPr>
              <a:t>Инженердик технологиялар • 8-класс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008"/>
            <a:ext cx="98755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2-сабак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008"/>
            <a:ext cx="5029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/>
            <a:r>
              <a:rPr sz="1000" b="1">
                <a:solidFill>
                  <a:srgbClr val="E7B54B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5341"/>
                </a:solidFill>
                <a:latin typeface="Aptos"/>
              </a:rPr>
              <a:t>Маалыматтын санариптик изи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09344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Интернетте жарыялаган билдирүү, сүрөт же комментарий из калтырышы мүмкүн.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5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Жеке маалыматты жарыялоодон мурда анын кимге көрүнөрүн ойлон.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18687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3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Башка адамдын сүрөтүн же маалыматын уруксатсыз бөлүшпө.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623560"/>
            <a:ext cx="10972800" cy="640080"/>
          </a:xfrm>
          <a:prstGeom prst="roundRect">
            <a:avLst/>
          </a:prstGeom>
          <a:solidFill>
            <a:srgbClr val="E8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751576"/>
            <a:ext cx="105613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5341"/>
                </a:solidFill>
                <a:latin typeface="Aptos"/>
              </a:rPr>
              <a:t>Эреже: жарыялаардан мурда токто, ойлон, текшер.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C6C63"/>
                </a:solidFill>
                <a:latin typeface="Aptos"/>
              </a:rPr>
              <a:t>Инженердик технологиялар • 8-класс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008"/>
            <a:ext cx="98755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2-сабак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008"/>
            <a:ext cx="5029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/>
            <a:r>
              <a:rPr sz="1000" b="1">
                <a:solidFill>
                  <a:srgbClr val="E7B54B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5341"/>
                </a:solidFill>
                <a:latin typeface="Aptos"/>
              </a:rPr>
              <a:t>Санариптик этика жана сый мамиле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09344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Башкаларга сылык жаз жана кемсинткен билдирүү жөнөтпө.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5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Маалыматтын авторун көрсөтүп, эмгегин урматта.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18687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3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Күмөндүү шилтемелерди ачпа жана сырсөздү эч кимге бербе.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023360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22776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Көйгөй жаралса, ишенимдүү чоң кишиге же мугалимге кайрыл.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623560"/>
            <a:ext cx="10972800" cy="640080"/>
          </a:xfrm>
          <a:prstGeom prst="roundRect">
            <a:avLst/>
          </a:prstGeom>
          <a:solidFill>
            <a:srgbClr val="E8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751576"/>
            <a:ext cx="105613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5341"/>
                </a:solidFill>
                <a:latin typeface="Aptos"/>
              </a:rPr>
              <a:t>Онлайндагы жүрүм-турум да чыныгы жашоодогу жоопкерчиликке барабар.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C6C63"/>
                </a:solidFill>
                <a:latin typeface="Aptos"/>
              </a:rPr>
              <a:t>Инженердик технологиялар • 8-класс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008"/>
            <a:ext cx="98755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2-сабак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008"/>
            <a:ext cx="5029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/>
            <a:r>
              <a:rPr sz="1000" b="1">
                <a:solidFill>
                  <a:srgbClr val="E7B54B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5341"/>
                </a:solidFill>
                <a:latin typeface="Aptos"/>
              </a:rPr>
              <a:t>Практикалык иш: кызматты талдоо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09344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Бир санариптик кызматты танда: мисалы, электрондук күндөлүк же онлайн карта.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5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Ал кандай көйгөйдү чечерин жаз.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18687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3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Кандай маалымат талап кылынарын аныкта.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023360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22776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Эки пайдасын жана бир коопсуздук эрежесин ата.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623560"/>
            <a:ext cx="10972800" cy="640080"/>
          </a:xfrm>
          <a:prstGeom prst="roundRect">
            <a:avLst/>
          </a:prstGeom>
          <a:solidFill>
            <a:srgbClr val="E8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751576"/>
            <a:ext cx="105613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5341"/>
                </a:solidFill>
                <a:latin typeface="Aptos"/>
              </a:rPr>
              <a:t>Жупта иштегиле: бири кызматты түшүндүрөт, экинчиси коопсуздук жагын текшерет.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C6C63"/>
                </a:solidFill>
                <a:latin typeface="Aptos"/>
              </a:rPr>
              <a:t>Инженердик технологиялар • 8-класс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8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4008"/>
            <a:ext cx="98755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2-сабак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008"/>
            <a:ext cx="502920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/>
            <a:r>
              <a:rPr sz="1000" b="1">
                <a:solidFill>
                  <a:srgbClr val="E7B54B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185341"/>
                </a:solidFill>
                <a:latin typeface="Aptos"/>
              </a:rPr>
              <a:t>Бекемдөө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09344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Санариптик коомдун үч мисалын ата.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5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Санариптик из деген эмне?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218687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3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Онлайн кызмат колдонууда кандай жеке маалыматты коргоо керек?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023360"/>
            <a:ext cx="118872" cy="118872"/>
          </a:xfrm>
          <a:prstGeom prst="ellipse">
            <a:avLst/>
          </a:prstGeom>
          <a:solidFill>
            <a:srgbClr val="E7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22776"/>
            <a:ext cx="1046988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302B"/>
                </a:solidFill>
                <a:latin typeface="Aptos"/>
              </a:rPr>
              <a:t>Үй тапшырмасы: бир санариптик кызмат боюнча 5 сүйлөм жаз.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623560"/>
            <a:ext cx="10972800" cy="640080"/>
          </a:xfrm>
          <a:prstGeom prst="roundRect">
            <a:avLst/>
          </a:prstGeom>
          <a:solidFill>
            <a:srgbClr val="E8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751576"/>
            <a:ext cx="105613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1">
                <a:solidFill>
                  <a:srgbClr val="185341"/>
                </a:solidFill>
                <a:latin typeface="Aptos"/>
              </a:rPr>
              <a:t>Өзүңө суроо бер: бул кызмат пайдалуубу, ишенимдүүбү жана коопсузбу?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400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C6C63"/>
                </a:solidFill>
                <a:latin typeface="Aptos"/>
              </a:rPr>
              <a:t>Инженердик технологиялар • 8-класс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